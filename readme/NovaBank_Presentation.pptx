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3200400" cy="3200400"/>
          </a:xfrm>
          <a:prstGeom prst="ellipse">
            <a:avLst/>
          </a:prstGeom>
          <a:solidFill>
            <a:srgbClr val="0D1629"/>
          </a:solidFill>
          <a:ln w="12700">
            <a:solidFill>
              <a:srgbClr val="0D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0D1629"/>
          </a:solidFill>
          <a:ln w="12700">
            <a:solidFill>
              <a:srgbClr val="0D16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82880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389120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457200"/>
            <a:ext cx="182880" cy="1828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411480"/>
            <a:ext cx="1371600" cy="1371600"/>
          </a:xfrm>
          <a:prstGeom prst="ellipse">
            <a:avLst/>
          </a:prstGeom>
          <a:solidFill>
            <a:srgbClr val="C9A84C"/>
          </a:solidFill>
          <a:ln w="38100">
            <a:solidFill>
              <a:srgbClr val="E8C96A"/>
            </a:solidFill>
            <a:prstDash val="solid"/>
          </a:ln>
          <a:effectLst>
            <a:outerShdw sx="100000" sy="100000" kx="0" ky="0" algn="bl" rotWithShape="0" blurRad="317500" dist="50800" dir="16200000">
              <a:srgbClr val="C9A84C">
                <a:alpha val="6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411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10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البنك الرقمي المتكامل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  ·  FastAPI  ·  PostgreSQL  ·  Docker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384048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التخرج  |  Graduation Project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المحتويات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9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هو Nova Bank؟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 والدافع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64208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المعمارية التقنية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1993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14016"/>
            <a:ext cx="54864" cy="6583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87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الخدمات والمكونات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خدمات مستقلة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63824"/>
            <a:ext cx="54864" cy="6583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36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البيانات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493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13632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13632"/>
            <a:ext cx="54864" cy="65836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867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الأمان والمصادقة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RBAC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1440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9875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969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الواجهات الأمامية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12435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Teller Portals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664208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664208"/>
            <a:ext cx="54864" cy="6583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068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التقنيات المستخدمة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1993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كامل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414016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414016"/>
            <a:ext cx="54864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487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4068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068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نقاط الـ API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163824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163824"/>
            <a:ext cx="54864" cy="65836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236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4068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والمميزات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40680" y="3493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حققناه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913632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3913632"/>
            <a:ext cx="54864" cy="658368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9867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40680" y="3968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 والتطوير المستقبلي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4068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الطريق للأمام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هو Nova Bank؟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960120"/>
          </a:xfrm>
          <a:prstGeom prst="rect">
            <a:avLst/>
          </a:prstGeom>
          <a:solidFill>
            <a:srgbClr val="0D1629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73152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7782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هو نظام بنكي رقمي متكامل مبني بمعمارية Microservices الحديثة — نفس المعمارية التي تستخدمها كبرى البنوك الرقمية حول العالم.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 التي يحلها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901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 الذي نقدمه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4023360" cy="475488"/>
          </a:xfrm>
          <a:prstGeom prst="rect">
            <a:avLst/>
          </a:prstGeom>
          <a:solidFill>
            <a:srgbClr val="1A0F0F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41448"/>
            <a:ext cx="201168" cy="201168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الأنظمة التقليدية Monolith — خطأ واحد يوقف كل شيء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4023360" cy="475488"/>
          </a:xfrm>
          <a:prstGeom prst="rect">
            <a:avLst/>
          </a:prstGeom>
          <a:solidFill>
            <a:srgbClr val="1A0F0F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008376"/>
            <a:ext cx="201168" cy="201168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809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9443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يمكن توسيع خدمة واحدة دون توسيع النظام كله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4023360" cy="475488"/>
          </a:xfrm>
          <a:prstGeom prst="rect">
            <a:avLst/>
          </a:prstGeom>
          <a:solidFill>
            <a:srgbClr val="1A0F0F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575304"/>
            <a:ext cx="201168" cy="201168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478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5112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صعوبة التطوير المتوازي بين الفرق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05072"/>
            <a:ext cx="4023360" cy="475488"/>
          </a:xfrm>
          <a:prstGeom prst="rect">
            <a:avLst/>
          </a:prstGeom>
          <a:solidFill>
            <a:srgbClr val="1A0F0F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142232"/>
            <a:ext cx="201168" cy="201168"/>
          </a:xfrm>
          <a:prstGeom prst="ellipse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148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0782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 مشتركة = نقطة فشل واحدة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304288"/>
            <a:ext cx="4023360" cy="475488"/>
          </a:xfrm>
          <a:prstGeom prst="rect">
            <a:avLst/>
          </a:prstGeom>
          <a:solidFill>
            <a:srgbClr val="0A1F1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244144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1401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3774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خدمات مستقلة — فشل خدمة لا يوقف الباقي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871216"/>
            <a:ext cx="4023360" cy="475488"/>
          </a:xfrm>
          <a:prstGeom prst="rect">
            <a:avLst/>
          </a:prstGeom>
          <a:solidFill>
            <a:srgbClr val="0A1F1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3008376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809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294436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خدمة تُوسَّع منفردة حسب الحاجة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4023360" cy="475488"/>
          </a:xfrm>
          <a:prstGeom prst="rect">
            <a:avLst/>
          </a:prstGeom>
          <a:solidFill>
            <a:srgbClr val="0A1F1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3575304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478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35112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فرق مستقلة تطور كل خدمة بمعزل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005072"/>
            <a:ext cx="4023360" cy="475488"/>
          </a:xfrm>
          <a:prstGeom prst="rect">
            <a:avLst/>
          </a:prstGeom>
          <a:solidFill>
            <a:srgbClr val="0A1F1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4142232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148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F1E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407822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 لكل خدمة = عزل كامل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معمارية النظام — Microservices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طلب يسافر من المتصفح عبر طبقات أمان متعددة قبل الوصول للبيانات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097280"/>
            <a:ext cx="2926080" cy="475488"/>
          </a:xfrm>
          <a:prstGeom prst="rect">
            <a:avLst/>
          </a:prstGeom>
          <a:solidFill>
            <a:srgbClr val="0D1A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097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Customer Portal  :3000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097280"/>
            <a:ext cx="2926080" cy="475488"/>
          </a:xfrm>
          <a:prstGeom prst="rect">
            <a:avLst/>
          </a:prstGeom>
          <a:solidFill>
            <a:srgbClr val="0D1A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097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Teller System  :3001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88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572000" y="1572768"/>
            <a:ext cx="0" cy="27432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847088"/>
            <a:ext cx="4023360" cy="438912"/>
          </a:xfrm>
          <a:prstGeom prst="rect">
            <a:avLst/>
          </a:prstGeom>
          <a:solidFill>
            <a:srgbClr val="0A1F1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184708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Nginx Reverse Proxy  :8080  |  Rate Limiting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19385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LAYER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0" cy="256032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542032"/>
            <a:ext cx="4572000" cy="475488"/>
          </a:xfrm>
          <a:prstGeom prst="rect">
            <a:avLst/>
          </a:prstGeom>
          <a:solidFill>
            <a:srgbClr val="1A150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0" y="2542032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57860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API Gateway  :8000  |  JWT Auth · RBAC · Logging · Rate Limit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6334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LAYER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51560" y="3017520"/>
            <a:ext cx="0" cy="256032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63240" y="3017520"/>
            <a:ext cx="0" cy="256032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3017520"/>
            <a:ext cx="0" cy="256032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3017520"/>
            <a:ext cx="0" cy="256032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73552"/>
            <a:ext cx="178308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73552"/>
            <a:ext cx="1783080" cy="457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19272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3273552"/>
            <a:ext cx="178308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50592" y="3273552"/>
            <a:ext cx="17830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3319272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26864" y="3273552"/>
            <a:ext cx="178308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26864" y="3273552"/>
            <a:ext cx="17830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319272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03136" y="3273552"/>
            <a:ext cx="178308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3273552"/>
            <a:ext cx="178308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3319272"/>
            <a:ext cx="1783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1560" y="3840480"/>
            <a:ext cx="0" cy="201168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63240" y="3840480"/>
            <a:ext cx="0" cy="201168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74920" y="3840480"/>
            <a:ext cx="0" cy="201168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3840480"/>
            <a:ext cx="0" cy="201168"/>
          </a:xfrm>
          <a:prstGeom prst="line">
            <a:avLst/>
          </a:prstGeom>
          <a:noFill/>
          <a:ln w="12700">
            <a:solidFill>
              <a:srgbClr val="2A3A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041648"/>
            <a:ext cx="1783080" cy="502920"/>
          </a:xfrm>
          <a:prstGeom prst="rect">
            <a:avLst/>
          </a:prstGeom>
          <a:solidFill>
            <a:srgbClr val="0A0F1E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041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auth_db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50592" y="4041648"/>
            <a:ext cx="1783080" cy="502920"/>
          </a:xfrm>
          <a:prstGeom prst="rect">
            <a:avLst/>
          </a:prstGeom>
          <a:solidFill>
            <a:srgbClr val="0A0F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50592" y="4041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accounts_db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26864" y="4041648"/>
            <a:ext cx="1783080" cy="502920"/>
          </a:xfrm>
          <a:prstGeom prst="rect">
            <a:avLst/>
          </a:prstGeom>
          <a:solidFill>
            <a:srgbClr val="0A0F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4041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transactions_db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03136" y="4041648"/>
            <a:ext cx="1783080" cy="502920"/>
          </a:xfrm>
          <a:prstGeom prst="rect">
            <a:avLst/>
          </a:prstGeom>
          <a:solidFill>
            <a:srgbClr val="0A0F1E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40416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notifications_db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 (Database-per-Service)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القلب النابض للنظام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JWT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يتحقق من صلاحية كل توكن في كل طلب محمي. يفك تشفيره ويستخرج بيانات المستخدم (ID، الدور) قبل التوجيه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64008" cy="1097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Role-Based Access (RBAC)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أربعة مستويات: customer / teller / supervisor / admin. كل endpoint يتحقق من الدور المطلوب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64008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Rate Limiting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743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طلب/ثانية عاماً، و5 طلبات فقط/دقيقة لـ Login — حماية من Brute Force وDDoS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Request Logging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743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طلب يحصل على UUID فريد ويُسجَّل مع الوقت وهوية المستخدم والمدة — لتسهيل الـ Debugging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57600"/>
            <a:ext cx="64008" cy="109728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Async Proxy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4114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يعيد توجيه الطلبات للخدمة المناسبة بشكل async مع timeout 30 ثانية ورسائل خطأ واضحة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57600"/>
            <a:ext cx="64008" cy="10972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 &amp; Readiness Checks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114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/ready تتحقق من جاهزية كل الخدمات الداخلية قبل السماح بالطلبات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الخدمات — كل خدمة عالم مستقل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39319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 :8001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1426464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716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دخول العملاء والموظفين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1965960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11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حسابات جديدة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505456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توليد JWT Tokens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044952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900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584448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95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للأحداث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4123944"/>
            <a:ext cx="128016" cy="12801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690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بيانات تجريبية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822960"/>
            <a:ext cx="2743200" cy="39319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822960"/>
            <a:ext cx="274320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Service  :8002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9272" y="1426464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13716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وإدارة الحسابات البنكية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9272" y="196596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1911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إصدار كروت Visa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9272" y="2505456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أهداف الادخار (Goals)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9272" y="3044952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29900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طلبات القروض مع حساب الأقساط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19272" y="3584448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5295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محفظة الأسهم (Portfolio)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19272" y="4123944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0690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تجميد/إلغاء تجميد الحسابات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822960"/>
            <a:ext cx="2743200" cy="39319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822960"/>
            <a:ext cx="274320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822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Service  :8003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99632" y="1426464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137160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إيداع ونقدي وتحويل بين حسابات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1965960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91109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دفع فواتير (كهرباء، مياه، تليفون)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99632" y="2505456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عملات (7 عملات)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99632" y="3044952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99008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الموظفين Teller Log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99632" y="3584448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5295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للعمليات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99632" y="4123944"/>
            <a:ext cx="128016" cy="12801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406908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أسعار الصرف الحية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03920" cy="365760"/>
          </a:xfrm>
          <a:prstGeom prst="rect">
            <a:avLst/>
          </a:prstGeom>
          <a:solidFill>
            <a:srgbClr val="0A1F1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65760" y="4617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Service  :8004  —  إنشاء وإدارة الإشعارات · قراءة فردية أو جماعية · badge العدد غير المقروء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قواعد البيانات — Database-per-Service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خدمة تملك قاعدة بياناتها المعزولة تماماً — مبدأ أساسي في Microservices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965960" cy="2386584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1965960" cy="38404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auth_db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36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users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856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email · password_hash · national_id · status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951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employees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username · role · branch · shift · active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53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audit_log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729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actor_id · action · ip · created_at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395728" y="1143000"/>
            <a:ext cx="1965960" cy="3703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95728" y="1143000"/>
            <a:ext cx="196596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accounts_db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87168" y="1600200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32888" y="1636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accounts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32888" y="1856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balance CHECK≥0 · account_type · frozen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87168" y="2258568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2888" y="22951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cards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32888" y="2514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card_type · card_number_masked · expiry · color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87168" y="2916936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32888" y="2953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savings_goals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32888" y="31729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emoji · target · current · deadline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487168" y="3575304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32888" y="36118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loans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32888" y="38313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loan_type · total · monthly · paid · 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487168" y="4233672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427024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portfolio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32888" y="44897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· qty · avg_price · UNIQUE(account,symbol)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943600" y="1143000"/>
            <a:ext cx="1965960" cy="2386584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1143000"/>
            <a:ext cx="196596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transactions_db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1600200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1636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transactions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080760" y="1856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sub_type · amount CHECK&gt;0 · balance_after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035040" y="2258568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22951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teller_log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80760" y="2514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teller_name · operation · customer_name · amount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35040" y="2916936"/>
            <a:ext cx="1783080" cy="59436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2953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audit_log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80760" y="31729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actor_name · actor_role · action · created_at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34840" y="1143000"/>
            <a:ext cx="141732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34840" y="1143000"/>
            <a:ext cx="1417320" cy="3840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11430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notifications_db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26280" y="1572768"/>
            <a:ext cx="1234440" cy="475488"/>
          </a:xfrm>
          <a:prstGeom prst="rect">
            <a:avLst/>
          </a:prstGeom>
          <a:solidFill>
            <a:srgbClr val="0A0F1E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16093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notifications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0" y="18013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· title · body · read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74320" y="4480560"/>
            <a:ext cx="8503920" cy="457200"/>
          </a:xfrm>
          <a:prstGeom prst="rect">
            <a:avLst/>
          </a:prstGeom>
          <a:solidFill>
            <a:srgbClr val="0A1F0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576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مبدأ Database-per-Service:  لا خدمة تقرأ أو تكتب مباشرة في قاعدة بيانات خدمة أخرى — التواصل فقط عبر HTTP APIs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الأمان والمصادقة — Security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تدفق المصادقة — Authentication 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554480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188720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91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7739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إيميل + كلمة مرور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0" y="155448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170432"/>
            <a:ext cx="1554480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87752" y="1188720"/>
            <a:ext cx="365760" cy="36576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39112" y="1591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39112" y="17739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bcrypt.checkpw()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47872" y="155448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170432"/>
            <a:ext cx="1554480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06824" y="1188720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0682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58184" y="1591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58184" y="17739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· 8 ساعات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66944" y="155448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170432"/>
            <a:ext cx="1554480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25896" y="1188720"/>
            <a:ext cx="365760" cy="3657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77256" y="1591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77256" y="17739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jwt.decode(token)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86016" y="155448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0608" y="1170432"/>
            <a:ext cx="1554480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44968" y="1188720"/>
            <a:ext cx="365760" cy="36576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4496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96328" y="1591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الخدمة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96328" y="17739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تنفيذ الطلب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" y="2103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الصلاحيات — Role-Based Access Control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2487168"/>
            <a:ext cx="1965960" cy="2359152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2487168"/>
            <a:ext cx="196596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2980944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288950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عمليات على حسابه فقط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8912" y="3456432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3649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أهداف ادخار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8912" y="393192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8404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 قروض وأسهم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8912" y="4407408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3159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تغيير كلمة المرور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395728" y="2487168"/>
            <a:ext cx="1965960" cy="2359152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395728" y="2487168"/>
            <a:ext cx="1965960" cy="3474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95728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60320" y="2980944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288950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صلاحيات Customer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3456432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33649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إيداع/سحب لأي حساب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60320" y="3931920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38404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اليوم والأسبوع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0" y="4407408"/>
            <a:ext cx="109728" cy="10972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43159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البحث عن العملاء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26280" y="2487168"/>
            <a:ext cx="1965960" cy="2359152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26280" y="2487168"/>
            <a:ext cx="196596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26280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690872" y="298094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73752" y="288950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صلاحيات Teller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90872" y="34564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73752" y="33649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تجميد الحسابات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90872" y="393192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73752" y="38404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بيانات الموظفين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690872" y="440740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73752" y="43159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متقدمة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647688" y="2487168"/>
            <a:ext cx="1965960" cy="2359152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647688" y="2487168"/>
            <a:ext cx="1965960" cy="3474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47688" y="2487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812280" y="2980944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95160" y="288950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صلاحيات كاملة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812280" y="3456432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95160" y="33649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إنشاء/حذف الموظفين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812280" y="3931920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95160" y="38404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كامل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812280" y="4407408"/>
            <a:ext cx="109728" cy="10972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95160" y="43159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النظام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74320" y="4892040"/>
            <a:ext cx="8503920" cy="384048"/>
          </a:xfrm>
          <a:prstGeom prst="rect">
            <a:avLst/>
          </a:prstGeom>
          <a:solidFill>
            <a:srgbClr val="1A0F0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365760" y="48920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bcrypt cost factor 12:  كل hash يستغرق ~250ms — سريع للمستخدم، بطيء جداً لأي هجوم Brute Force (ملايين السنين)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التقنيات المستخدمة — Tech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64008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868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10424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v0.111.0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أسرع Python framework مع Swagger تلقائي وdepndency injection ودعم async — مثالي للـ Microservices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64008" cy="1005840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8686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9744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104241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9744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native · CHECK constraints · TIMESTAMPTZ · Indexes قوية · نسخة Alpine خفيفة في Docker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011680"/>
            <a:ext cx="6400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057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22311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· cost 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0624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— كل خدمة تتحقق بنفسها بدون قاعدة بيانات. bcrypt يحمي كلمات المرور من القوة الغاشمة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01168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011680"/>
            <a:ext cx="64008" cy="100584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057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9744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89520" y="22311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تشغيل 10 containers (6 خدمات + 4 DBs) بأمر واحد. Health checks تضمن الترتيب الصحيح للتشغيل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00400"/>
            <a:ext cx="64008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246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0624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200400" y="3419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على مستوى الـ Network، تجميع الطلبات، واجهة واحدة للـ Frontend والـ API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20040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200400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3246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(Inter-Service)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9744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589520" y="34198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v0.27.0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9744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HTTP client للتواصل بين الخدمات مع timeout وerror handling احترافي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38912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4389120"/>
            <a:ext cx="64008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434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0624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200400" y="46085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v2.7.0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0624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تحقق تلقائي من أنواع البيانات في كل request. يرفع HTTPException واضح عند أي خطأ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38912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4389120"/>
            <a:ext cx="64008" cy="100584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4434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9744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7589520" y="46085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v0.29.0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9744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أسرع ASGI server في Python — يشغّل FastAPI مع دعم كامل للـ async requests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FastAPI؟ — مقارنة الـ Frameworks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69494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اخترنا FastAPI بعد مقارنة دقيقة مع البدائل المتاحة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01168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المعيار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0F1E"/>
                          </a:solidFill>
                        </a:rPr>
                        <a:t>FastAPI 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Flask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Django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الأداء (req/s)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⭐⭐⭐⭐⭐  ASGI Async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⭐⭐⭐  WSGI Sync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⭐⭐⭐  WSGI Sync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توثيق Swagger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✅ تلقائي 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❌ يدوي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❌ يدوي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Type Validation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✅ Pydantic مدمج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❌ يدوي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❌ يدوي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Microservices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✅ مثالي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✅ جيد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❌ ثقيل جداً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سهولة التعلم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⭐⭐⭐⭐⭐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⭐⭐⭐⭐⭐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⭐⭐⭐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Async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✅ أصلي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⚠️ محدود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⚠️ محدود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وزن الـ Framework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خفيف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خفيف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ثقيل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C9A84C"/>
                          </a:solidFill>
                        </a:rPr>
                        <a:t>مناسب للمشروع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676"/>
                          </a:solidFill>
                        </a:rPr>
                        <a:t>✅✅✅ الأفضل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✅ جيد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899BB"/>
                          </a:solidFill>
                        </a:rPr>
                        <a:t>❌ مبالغ فيه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617720"/>
            <a:ext cx="8503920" cy="393192"/>
          </a:xfrm>
          <a:prstGeom prst="rect">
            <a:avLst/>
          </a:prstGeom>
          <a:solidFill>
            <a:srgbClr val="0A1F0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4617720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الاختيار النهائي: FastAPI — ASGI + Pydantic + Swagger تلقائي = الأمثل للـ Microservices الحديثة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الواجهات الأمامية — Customer &amp; Teller Portals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Customer Portal  ( :3000 )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صفحة تسجيل دخول وتسجيل حساب جديد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لوحة تحكم — رصيد، كارت، آخر معاملات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85416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تحويلات — إيداع، سحب، تحويل، فواتير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426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أهداف الادخار مع تتبع بصري للتقدم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72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محفظة أسهم — شراء وعرض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02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💱  تحويل عملات (7 عملات)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مركز إشعارات مع badge غير المقروءة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334256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61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إعدادات — تغيير كلمة المرور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41605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Teller System  ( :3001 )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1353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البحث عن العملاء بالاسم أو رقم الحساب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1755648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783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تنفيذ إيداع وسحب لصالح العملاء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2185416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سجل عمليات اليوم (Teller Log)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2615184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6426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تقارير أسبوعية وإحصائيات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3044952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0723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إدارة الموظفين (Admin فقط)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37760" y="3474720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502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Audit Log لكل أحداث النظام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3904488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عرض تفصيلي لبيانات الحسابات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37760" y="4334256"/>
            <a:ext cx="3749040" cy="0"/>
          </a:xfrm>
          <a:prstGeom prst="line">
            <a:avLst/>
          </a:prstGeom>
          <a:noFill/>
          <a:ln w="6350">
            <a:solidFill>
              <a:srgbClr val="2A3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361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صلاحيات تدريجية: Teller→Supervisor→Admin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5029200"/>
            <a:ext cx="8503920" cy="347472"/>
          </a:xfrm>
          <a:prstGeom prst="rect">
            <a:avLst/>
          </a:prstGeom>
          <a:solidFill>
            <a:srgbClr val="0A101F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65760" y="50292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التصميم:  Vanilla HTML/CSS/JS · Arabic RTL · Navy &amp; Gold Color Scheme · Glassmorphism Cards · CSS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— نقاط الـ API الكاملة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97480" cy="4023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697480" cy="3474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261872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618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5156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1837944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379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51560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/api/auth/login-employee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414016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14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5156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2990088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/api/auth/change-password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566160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5661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5156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/api/auth/logout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822960"/>
            <a:ext cx="2697480" cy="4023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822960"/>
            <a:ext cx="26974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27832" y="8229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Accounts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64408" y="1261872"/>
            <a:ext cx="59436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2618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3192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/api/accounts/me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4408" y="1837944"/>
            <a:ext cx="59436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18379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931920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/api/accounts/{id}/cards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4408" y="2414016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2414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93192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/api/accounts/{id}/cards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64408" y="2990088"/>
            <a:ext cx="59436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9319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/api/accounts/{id}/goals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64408" y="3566160"/>
            <a:ext cx="59436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35661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93192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/api/accounts/{id}/loans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64408" y="4142232"/>
            <a:ext cx="59436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41422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931920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/api/accounts/{id}/portfolio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822960"/>
            <a:ext cx="2697480" cy="402336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822960"/>
            <a:ext cx="269748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08192" y="82296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Transactions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44768" y="1261872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44768" y="12618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8122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/api/transactions/deposit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44768" y="1837944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18379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12280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/api/transactions/withdraw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44768" y="2414016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44768" y="241401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81228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/api/transactions/transfer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44768" y="2990088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44768" y="29900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1228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/api/transactions/pay-bill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44768" y="3566160"/>
            <a:ext cx="594360" cy="23774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44768" y="35661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81228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/api/transactions/exchange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144768" y="4142232"/>
            <a:ext cx="594360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44768" y="41422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812280" y="4123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/api/transactions/rates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4937760"/>
            <a:ext cx="8503920" cy="347472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65760" y="49377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Teller:  GET /api/teller/log  ·  GET /api/teller/weekly  ·  GET/POST/DELETE /api/admin/employees  ·  GET /api/admin/audit-log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Deployment — تشغيل في ثانية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solidFill>
            <a:srgbClr val="0D1629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22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أمر واحد يشغّل 10 containers — 6 خدمات + 4 قواعد بيانات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74520"/>
            <a:ext cx="16002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" y="1984248"/>
            <a:ext cx="274320" cy="274320"/>
          </a:xfrm>
          <a:prstGeom prst="ellipse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2295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551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761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:8080:80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11680" y="187452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0" y="1874520"/>
            <a:ext cx="1600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9192" y="1984248"/>
            <a:ext cx="274320" cy="274320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57400" y="2295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57400" y="2551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57400" y="2761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49040" y="187452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1874520"/>
            <a:ext cx="16002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1984248"/>
            <a:ext cx="274320" cy="274320"/>
          </a:xfrm>
          <a:prstGeom prst="ellipse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2295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94760" y="2551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94760" y="2761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187452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1874520"/>
            <a:ext cx="1600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53912" y="1984248"/>
            <a:ext cx="274320" cy="274320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2295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32120" y="2551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Service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2761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23760" y="187452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23760" y="1874520"/>
            <a:ext cx="1600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91272" y="1984248"/>
            <a:ext cx="274320" cy="27432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69480" y="2295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69480" y="25511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69480" y="27614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20040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3200400"/>
            <a:ext cx="16002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832" y="3310128"/>
            <a:ext cx="274320" cy="274320"/>
          </a:xfrm>
          <a:prstGeom prst="ellipse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2004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0040" y="38770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0040" y="40873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:8004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011680" y="320040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011680" y="3200400"/>
            <a:ext cx="1600200" cy="54864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79192" y="3310128"/>
            <a:ext cx="274320" cy="274320"/>
          </a:xfrm>
          <a:prstGeom prst="ellipse">
            <a:avLst/>
          </a:prstGeom>
          <a:solidFill>
            <a:srgbClr val="4169E1">
              <a:alpha val="30000"/>
            </a:srgbClr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7919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05740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auth-db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057400" y="38770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Database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057400" y="40873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49040" y="320040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749040" y="3200400"/>
            <a:ext cx="1600200" cy="54864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16552" y="3310128"/>
            <a:ext cx="274320" cy="274320"/>
          </a:xfrm>
          <a:prstGeom prst="ellipse">
            <a:avLst/>
          </a:prstGeom>
          <a:solidFill>
            <a:srgbClr val="4169E1">
              <a:alpha val="30000"/>
            </a:srgbClr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1655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79476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accounts-db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794760" y="38770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DB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794760" y="40873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486400" y="320040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486400" y="3200400"/>
            <a:ext cx="1600200" cy="54864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53912" y="3310128"/>
            <a:ext cx="274320" cy="274320"/>
          </a:xfrm>
          <a:prstGeom prst="ellipse">
            <a:avLst/>
          </a:prstGeom>
          <a:solidFill>
            <a:srgbClr val="4169E1">
              <a:alpha val="30000"/>
            </a:srgbClr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5391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53212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transactions-db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532120" y="38770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DB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532120" y="40873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223760" y="3200400"/>
            <a:ext cx="1600200" cy="11887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223760" y="3200400"/>
            <a:ext cx="1600200" cy="54864"/>
          </a:xfrm>
          <a:prstGeom prst="rect">
            <a:avLst/>
          </a:prstGeom>
          <a:solidFill>
            <a:srgbClr val="4169E1"/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91272" y="3310128"/>
            <a:ext cx="274320" cy="274320"/>
          </a:xfrm>
          <a:prstGeom prst="ellipse">
            <a:avLst/>
          </a:prstGeom>
          <a:solidFill>
            <a:srgbClr val="4169E1">
              <a:alpha val="30000"/>
            </a:srgbClr>
          </a:solidFill>
          <a:ln w="12700">
            <a:solidFill>
              <a:srgbClr val="4169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9127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🐳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7269480" y="362102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16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notifications-db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269480" y="38770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DB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269480" y="40873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nova-network  (Docker bridge) — العزل الكامل بين الخدمات الداخلية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حققناه — الإنجازات والأرقام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55448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15544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1609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مستقلة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822960"/>
            <a:ext cx="155448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822960"/>
            <a:ext cx="15544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914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011680" y="1609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قواعد بيانات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معزولة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822960"/>
            <a:ext cx="155448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822960"/>
            <a:ext cx="155448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914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749040" y="1609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موثق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822960"/>
            <a:ext cx="155448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822960"/>
            <a:ext cx="15544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914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486400" y="1609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واجهات أمامية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كاملة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822960"/>
            <a:ext cx="1554480" cy="14173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822960"/>
            <a:ext cx="1554480" cy="54864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9144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223760" y="1609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عملات مدعومة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للتحويل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54203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5237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Authentication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54203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5237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10912" y="24688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(cost 12)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07238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540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0352" y="29992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على مستويين (Nginx + Gateway)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07238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10912" y="29992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(4 أدوار)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602736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584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" y="35295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مع UUIDs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602736"/>
            <a:ext cx="201168" cy="201168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58444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10912" y="35295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Health Checks + Retry Loop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13308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1148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" y="4059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 Constraint على مستوى DB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4133088"/>
            <a:ext cx="201168" cy="20116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1148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10912" y="4059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Inter-Service HTTP Communication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663440"/>
            <a:ext cx="201168" cy="201168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64515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0352" y="4590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Docker Volumes للبيانات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4663440"/>
            <a:ext cx="201168" cy="201168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464515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✅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10912" y="45902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تلقائي لبيانات تجريبية كاملة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vs Monolith — مقارنة المعماريات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A84C"/>
                          </a:solidFill>
                        </a:rPr>
                        <a:t>المعيار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Microservices ✅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899BB"/>
                          </a:solidFill>
                        </a:rPr>
                        <a:t>Monolith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التوسع (Scaling)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كل خدمة توسّع مستقلة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❌ النظام كله أو لا شيء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العزل (Isolation)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فشل خدمة لا يوقف الباقي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❌ خطأ واحد قد يوقف الكل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التطوير المتوازي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فرق مستقلة لكل خدمة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⚠️ تصادمات في الكود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قاعدة البيانات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منفصلة لكل خدمة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❌ مشتركة = نقطة فشل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النشر (Deployment)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نشر مستقل لكل خدمة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❌ نشر النظام كله دفعة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التعقيد التشغيلي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⚠️ أعلى (يحتاج Docker)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✅ أبسط في البداية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المراقبة والـ Logging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كل خدمة تراقب مستقلة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⚠️ كل شيء مختلط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اختيار التقنيات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76"/>
                          </a:solidFill>
                        </a:rPr>
                        <a:t>✅ كل خدمة باللغة المناسبة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99BB"/>
                          </a:solidFill>
                        </a:rPr>
                        <a:t>❌ لغة واحدة للكل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919472"/>
            <a:ext cx="8503920" cy="347472"/>
          </a:xfrm>
          <a:prstGeom prst="rect">
            <a:avLst/>
          </a:prstGeom>
          <a:solidFill>
            <a:srgbClr val="0A1F0A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4919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اخترنا Microservices لأن المشروع يمثل نظاماً بنكياً حقيقياً يحتاج قابلية التوسع والعزل والأمان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كيفية التشغيل — Demo Setup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0392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9611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850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تثبيت المتطلبات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Desktop v20.10+  ·  Docker Compose v2.0+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463040"/>
            <a:ext cx="850392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544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المشروع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755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https://github.com/your-username/novabank.git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21408"/>
            <a:ext cx="850392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31136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1284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167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الدخول للمجلد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1401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novabank/nova_final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79776"/>
            <a:ext cx="850392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89504"/>
            <a:ext cx="347472" cy="34747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712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2825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تشغيل كل شيء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0723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38144"/>
            <a:ext cx="850392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47872"/>
            <a:ext cx="347472" cy="347472"/>
          </a:xfrm>
          <a:prstGeom prst="ellipse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2958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483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الانتظار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7307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30-60 ثانية لتهيئة قواعد البيانات و Seed البيانات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96512"/>
            <a:ext cx="8503920" cy="566928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206240"/>
            <a:ext cx="347472" cy="347472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879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4142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فتح المتصفح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389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Customer: localhost:3000  ·  Teller: localhost:3001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773168"/>
            <a:ext cx="8503920" cy="411480"/>
          </a:xfrm>
          <a:prstGeom prst="rect">
            <a:avLst/>
          </a:prstGeom>
          <a:solidFill>
            <a:srgbClr val="0D1629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4773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Demo:  demo@novabank.eg / demo123  (Premium)  ·  nour.ali@gmail.com / nour123  ·  Teller: m.elsayed / teller123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 — Graduation Project 2025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التطوير المستقبلي — الطريق للأمام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64008" cy="100584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41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Two-Factor Authentication (2FA)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710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عبر SMS أو تطبيق Authenticator — طبقة أمان إضافية لكل تسجيل دخول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64008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941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Event-Driven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2710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استبدال HTTP sync بـ Kafka أو RabbitMQ — يتيح معالجة الأحداث بشكل async وscalable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21408"/>
            <a:ext cx="64008" cy="10058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94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Redis Caching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5237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الجلسات وأسعار الصرف وبيانات الحسابات في Redis — تقليل الضغط على قواعد البيانات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121408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21408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94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Kubernetes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52374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ترحيل من Docker Compose إلى K8s — auto-scaling، self-healing، zero-downtime deployments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74136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74136"/>
            <a:ext cx="64008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Monitoring &amp; Observability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776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+ Jaeger للـ Distributed Tracing — رؤية كاملة لأداء النظام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374136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374136"/>
            <a:ext cx="64008" cy="1005840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API Security Enhancements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776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HTTPS/TLS، Refresh Tokens، API Keys للـ third-party integrations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626864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626864"/>
            <a:ext cx="64008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700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AI/ML Integration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5029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كشف الاحتيال (Fraud Detection) بـ Machine Learning، تحليل سلوك المستخدم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626864"/>
            <a:ext cx="41148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4626864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700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App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5029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للـ iOS وAndroid مع نفس الـ API backend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3200400" cy="3200400"/>
          </a:xfrm>
          <a:prstGeom prst="ellipse">
            <a:avLst/>
          </a:prstGeom>
          <a:solidFill>
            <a:srgbClr val="0D1629"/>
          </a:solidFill>
          <a:ln w="12700">
            <a:solidFill>
              <a:srgbClr val="0D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0D1629"/>
          </a:solidFill>
          <a:ln w="12700">
            <a:solidFill>
              <a:srgbClr val="0D16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3657600"/>
            <a:ext cx="457200" cy="4572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371600"/>
            <a:ext cx="274320" cy="2743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14400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BANK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على اهتمامكم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0" y="187452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29968"/>
            <a:ext cx="1417320" cy="1417320"/>
          </a:xfrm>
          <a:prstGeom prst="ellipse">
            <a:avLst/>
          </a:prstGeom>
          <a:solidFill>
            <a:srgbClr val="162035"/>
          </a:solidFill>
          <a:ln w="1905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848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27066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21408" y="2029968"/>
            <a:ext cx="1417320" cy="1417320"/>
          </a:xfrm>
          <a:prstGeom prst="ellipse">
            <a:avLst/>
          </a:prstGeom>
          <a:solidFill>
            <a:srgbClr val="162035"/>
          </a:solidFill>
          <a:ln w="1905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21408" y="20848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29968" y="27066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Security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85616" y="2029968"/>
            <a:ext cx="1417320" cy="1417320"/>
          </a:xfrm>
          <a:prstGeom prst="ellipse">
            <a:avLst/>
          </a:prstGeom>
          <a:solidFill>
            <a:srgbClr val="162035"/>
          </a:solidFill>
          <a:ln w="1905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85616" y="20848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🐳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694176" y="27066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49824" y="2029968"/>
            <a:ext cx="1417320" cy="1417320"/>
          </a:xfrm>
          <a:prstGeom prst="ellipse">
            <a:avLst/>
          </a:prstGeom>
          <a:solidFill>
            <a:srgbClr val="162035"/>
          </a:solidFill>
          <a:ln w="1905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20848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358384" y="27066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Gateway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114032" y="2029968"/>
            <a:ext cx="1417320" cy="1417320"/>
          </a:xfrm>
          <a:prstGeom prst="ellipse">
            <a:avLst/>
          </a:prstGeom>
          <a:solidFill>
            <a:srgbClr val="162035"/>
          </a:solidFill>
          <a:ln w="19050">
            <a:solidFill>
              <a:srgbClr val="2A3A5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20848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022592" y="27066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RTL Frontends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predict the future is to build it."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التخرج  ·  2025  ·  Nova Bank Digital Banking Platform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github.com/your-username/novabank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Bank — مشروع التخرج</dc:title>
  <dc:subject>PptxGenJS Presentation</dc:subject>
  <dc:creator>Nova Bank Team</dc:creator>
  <cp:lastModifiedBy>Nova Bank Team</cp:lastModifiedBy>
  <cp:revision>1</cp:revision>
  <dcterms:created xsi:type="dcterms:W3CDTF">2026-04-10T21:24:37Z</dcterms:created>
  <dcterms:modified xsi:type="dcterms:W3CDTF">2026-04-10T21:24:37Z</dcterms:modified>
</cp:coreProperties>
</file>